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F4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F4E"/>
                </a:solidFill>
                <a:latin typeface="Arial"/>
              </a:rPr>
              <a:t>TSTR Accuracy by Configuration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TSTR Accuracy %</c:v>
                </c:pt>
              </c:strCache>
            </c:strRef>
          </c:tx>
          <c:spPr>
            <a:solidFill>
              <a:srgbClr val="0C4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4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759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1D5D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Capacity</c:v>
                  </c:pt>
                  <c:pt idx="2">
                    <c:v>Long ★</c:v>
                  </c:pt>
                  <c:pt idx="3">
                    <c:v>Stable</c:v>
                  </c:pt>
                  <c:pt idx="4">
                    <c:v>Real 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79.4</c:v>
                </c:pt>
                <c:pt idx="1">
                  <c:v>81</c:v>
                </c:pt>
                <c:pt idx="2">
                  <c:v>81.8</c:v>
                </c:pt>
                <c:pt idx="3">
                  <c:v>80.7</c:v>
                </c:pt>
                <c:pt idx="4">
                  <c:v>85.3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"/>
          <c:min val="7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474720" cy="3474720"/>
          </a:xfrm>
          <a:prstGeom prst="ellipse">
            <a:avLst/>
          </a:prstGeom>
          <a:solidFill>
            <a:srgbClr val="0E7490">
              <a:alpha val="25000"/>
            </a:srgbClr>
          </a:solidFill>
          <a:ln w="12700">
            <a:solidFill>
              <a:srgbClr val="0E74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DEEP LEARNING APPLICATIONS  •  CMP020L016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Synthetic Tabular Data Generation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BAE6FD"/>
                </a:solidFill>
              </a:rPr>
              <a:t>for Privacy-Preserving Machine Learning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41148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F2FE"/>
                </a:solidFill>
              </a:rPr>
              <a:t>MD Rakib Hossain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Student ID: A00057300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University of Roehampton, London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93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DATASET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UCI Adult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48,842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56616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593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MODEL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CTGAN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configs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56616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93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BEST CONFIG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0060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(200ep, dim=256)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593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6B6D4"/>
                </a:solidFill>
              </a:rPr>
              <a:t>DEPLOYMENT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94944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Gradio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Colab T4 GPU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70916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Milestone 4  •  Final Submission  •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969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E"/>
                </a:solidFill>
              </a:rPr>
              <a:t>Privacy Regulations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2893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GDPR &amp; HIPAA restrict personal data sharing — blocking ML pipelines before they start.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17627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22494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E"/>
                </a:solidFill>
              </a:rPr>
              <a:t>Re-identification 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5694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Traditional k-anonymity fails. Linkage attacks can reconstruct identities from "harmless" fields.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456432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E"/>
                </a:solidFill>
              </a:rPr>
              <a:t>Tabular Data Complexity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8496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Mixed types, skewed distributions &amp; class imbalance break standard image-oriented GANs.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896112"/>
            <a:ext cx="4206240" cy="3456432"/>
          </a:xfrm>
          <a:prstGeom prst="rect">
            <a:avLst/>
          </a:prstGeom>
          <a:solidFill>
            <a:srgbClr val="0D1F4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1024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B6D4"/>
                </a:solidFill>
              </a:rPr>
              <a:t>Research Questions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64608" y="1444752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444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F4E"/>
                </a:solidFill>
              </a:rPr>
              <a:t>Q1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48072" y="138988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Can CTGAN reproduce the statistical distribution of a real census dataset with sufficient fidelity?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64608" y="2221992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221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F4E"/>
                </a:solidFill>
              </a:rPr>
              <a:t>Q2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48072" y="2167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Does synthetic data preserve ML utility when used to train a downstream classifier?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2999232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F4E"/>
                </a:solidFill>
              </a:rPr>
              <a:t>Q3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48072" y="29443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</a:rPr>
              <a:t>Does the model memorise individual records — creating re-identification risk?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" y="4535424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Dataset: UCI Adult Census Income — 48,842 records · 14 features · Binary income label (&gt;$50K)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Preparation &amp; CTGAN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1572768" cy="84124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96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UCI Adult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48,842 rows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73936" y="1316736"/>
            <a:ext cx="219456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896112"/>
            <a:ext cx="1572768" cy="841248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896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Clean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45,222 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316736"/>
            <a:ext cx="219456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5616" y="896112"/>
            <a:ext cx="1572768" cy="8412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896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80/20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Stratified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Split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58384" y="1316736"/>
            <a:ext cx="219456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896112"/>
            <a:ext cx="1572768" cy="8412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896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CTGAN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(4 configs)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50608" y="1316736"/>
            <a:ext cx="219456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0064" y="896112"/>
            <a:ext cx="157276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896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Evaluate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Synth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182880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Cleaning: "?" → NaN → drop nulls (7.4% reduction). Remove duplicates. Strip income label trailing period.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" y="2157984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</a:rPr>
              <a:t>CTGAN's Two Core Innovations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249631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58775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</a:rPr>
              <a:t>① VGM Normalisation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28986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Fits a Variational Gaussian Mixture Model to each continuous column. Encodes each value as a (normalised scalar, mode indicator) pair — enabling the generator to handle multi-modal and heavily zero-inflated distributions like capital-gain.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49631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01184" y="258775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</a:rPr>
              <a:t>② Conditional Training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01184" y="289864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Samples categories proportional to the log of their frequency at each training step. Forces the generator to produce all categories — including rare ones — preventing GAN mode collapse on imbalanced categorical columns.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" y="3895344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4E"/>
                </a:solidFill>
              </a:rPr>
              <a:t>4 Configurations (2×2 Factorial: Epoch × Embedding Dim)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4224528"/>
            <a:ext cx="8741664" cy="2286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4224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Config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89888" y="4224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Epochs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95728" y="4224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Embed Dim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93008" y="4224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Generator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Discriminator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0488" y="4224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Batch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96328" y="4224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SDV Score (M2)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" y="4453128"/>
            <a:ext cx="8741664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4453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Baseline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89888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100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95728" y="4453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128 (default)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93008" y="4453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44531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0488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500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96328" y="4453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85.2%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" y="4654296"/>
            <a:ext cx="8741664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" y="4654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Capacity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89888" y="4654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100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395728" y="4654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256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93008" y="4654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73168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0488" y="4654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500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96328" y="4654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88.0%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1168" y="4855464"/>
            <a:ext cx="8741664" cy="201168"/>
          </a:xfrm>
          <a:prstGeom prst="rect">
            <a:avLst/>
          </a:prstGeom>
          <a:solidFill>
            <a:srgbClr val="E0F2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" y="48554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Long 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89888" y="485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200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395728" y="4855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256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93008" y="4855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(256,256)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4855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(256,256)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90488" y="485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</a:rPr>
              <a:t>500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96328" y="4855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88.8%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" y="5056632"/>
            <a:ext cx="8741664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5056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Stable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89888" y="5056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200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395728" y="5056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128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93008" y="5056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73168" y="5056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(256,256)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190488" y="5056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500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96328" y="5056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F4E"/>
                </a:solidFill>
              </a:rPr>
              <a:t>86.2%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01168" y="5285232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SDV scores computed on full dataset in Milestone 2. Held-out test evaluation in Milestones 3 &amp; 4.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Long Configuration (Best) on Held-Out Test 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77824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77824"/>
            <a:ext cx="1993392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77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FIDELITY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01168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</a:rPr>
              <a:t>82.4%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" y="17373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SDV Quality Score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877824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14016" y="877824"/>
            <a:ext cx="1993392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877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UTILITY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14016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69A1"/>
                </a:solidFill>
              </a:rPr>
              <a:t>81.8%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14016" y="17373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TSTR Accuracy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877824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77824"/>
            <a:ext cx="199339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877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VS REAL 85.3%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26864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95.9%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17373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Utility Retention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877824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877824"/>
            <a:ext cx="199339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877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PRIVACY (&lt; 55% = SAFE)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39712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53.1%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39712" y="17373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MIA Accuracy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01168" y="2423160"/>
          <a:ext cx="4343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773168" y="2423160"/>
            <a:ext cx="41696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37760" y="25146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</a:rPr>
              <a:t>SDV Quality Sub-Scores — Long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37760" y="2807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Column Shapes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98080" y="28072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84.1%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37760" y="3054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Column Pair Trends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98080" y="305409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80.7%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37760" y="3300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Overall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498080" y="330098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82.4%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73168" y="3675888"/>
            <a:ext cx="41696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937760" y="37673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</a:rPr>
              <a:t>Privacy Evaluation — Long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37760" y="40599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4E"/>
                </a:solidFill>
              </a:rPr>
              <a:t>MIA Accuracy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858000" y="40599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53.1%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35824" y="4078224"/>
            <a:ext cx="658368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35824" y="40782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SAFE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93776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4E"/>
                </a:solidFill>
              </a:rPr>
              <a:t>NewRowSynthesis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858000" y="43159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0.985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735824" y="4334256"/>
            <a:ext cx="658368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35824" y="4334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SAFE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93776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4E"/>
                </a:solidFill>
              </a:rPr>
              <a:t>Singling-Out Risk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85800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&lt; 0.001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735824" y="4590288"/>
            <a:ext cx="658368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35824" y="45902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SAFE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201168" y="4892040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Macro F1: 0.700 (real: 0.761, 8.0% gap)   |   AUC-ROC: 0.881 (real: 0.907)   |   Minority-class recall gap: key limitation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 &amp; Testing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87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950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4E"/>
                </a:solidFill>
              </a:rPr>
              <a:t>Open Colab Link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 the Google Colab URL at the top of the report.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792224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4E"/>
                </a:solidFill>
              </a:rPr>
              <a:t>Set T4 GPU Runtime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Runtime → Change runtime type → T4 GPU.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596896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4E"/>
                </a:solidFill>
              </a:rPr>
              <a:t>Run All Cells (Ctrl+F9)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843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packages install automatically. Full training ~2–3 hrs.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401568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4E"/>
                </a:solidFill>
              </a:rPr>
              <a:t>Copy Gradio URL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public *.gradio.live URL appears from the last cell.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206240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4E"/>
                </a:solidFill>
              </a:rPr>
              <a:t>Generate &amp; Download CSV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config, set row count, click Generate, download.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9472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</a:rPr>
              <a:t>Milestone 4 Verification Results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19472" y="1261872"/>
            <a:ext cx="4023360" cy="256032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2618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08192" y="12618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Rows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21424" y="1261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78624" y="1261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64424" y="1261872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19472" y="1517904"/>
            <a:ext cx="4023360" cy="38404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0" y="15179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Long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08192" y="151790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100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21424" y="1517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Off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78624" y="1517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✓ Pass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64424" y="1517904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&lt; 2s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9472" y="1920240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19202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Long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19202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500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21424" y="1920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78624" y="19202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✓ Pass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64424" y="192024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~14s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19472" y="2322576"/>
            <a:ext cx="4023360" cy="38404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232257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Stable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08192" y="232257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1,000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21424" y="23225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Off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78624" y="232257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✓ Pass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964424" y="2322576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&lt; 4s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19472" y="2724912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03520" y="272491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Baseline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08192" y="27249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5,000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821424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Off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78624" y="27249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✓ Pass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964424" y="2724912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4E"/>
                </a:solidFill>
              </a:rPr>
              <a:t>&lt; 6s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19472" y="3246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084064" y="33375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Interface: M3 → M4 Enhancements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84064" y="365760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Model selector (Baseline / Capacity / Long / Stable)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84064" y="39502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Optional SDV Quality Report toggle (+8–12 s)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84064" y="42428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CSV file download widget (replaced raw preview)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84064" y="453542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Two-tab layout separating controls from docs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3200400" cy="3200400"/>
          </a:xfrm>
          <a:prstGeom prst="ellipse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383280"/>
            <a:ext cx="2743200" cy="27432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95528"/>
            <a:ext cx="5029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CTGAN achieves 88.8% SDV quality on the full dataset; 82.4% on the held-out test set with 95.9% utility retention.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6642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Privacy confirmed safe: MIA accuracy 53.1% (below 55% threshold), NewRowSynthesis 0.985 — no meaningful memorisation.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3225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Embedding dimension matters more than epoch count. Capacity (dim=256) consistently outperforms longer training with smaller dim.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9809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Capital-gain &amp; capital-loss remain weak (Wasserstein 312 &amp; 124). Minority-class Macro F1 gap of 8% is a fairness risk in downstream use.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Future Enhancements (Priority Order)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① DP-CTGAN — add formal differential privacy guarantees (mandatory for healthcare / finance)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② Two-component VGM — separate Bernoulli zero-indicator from positive-tail VGM for capital columns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③ Optuna hyperparameter search — replace manual 2×2 grid with principled tuning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④ Apply pipeline to MIMIC-III &amp; deploy on Hugging Face Spaces for persistent availability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28032"/>
            <a:ext cx="8321040" cy="182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</a:rPr>
              <a:t>GitHub: github.com/mrakib00/synthetic-data-generation-project  |  Colab link in report header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Tabular Data Generation for Privacy-Preserving ML</dc:title>
  <dc:subject>PptxGenJS Presentation</dc:subject>
  <dc:creator>MD Rakib Hossain</dc:creator>
  <cp:lastModifiedBy>MD Rakib Hossain</cp:lastModifiedBy>
  <cp:revision>1</cp:revision>
  <dcterms:created xsi:type="dcterms:W3CDTF">2026-05-07T11:56:32Z</dcterms:created>
  <dcterms:modified xsi:type="dcterms:W3CDTF">2026-05-07T11:56:32Z</dcterms:modified>
</cp:coreProperties>
</file>